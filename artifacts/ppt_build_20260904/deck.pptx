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5c85e2966f4f77" /><Relationship Type="http://schemas.openxmlformats.org/officeDocument/2006/relationships/extended-properties" Target="/docProps/app.xml" Id="R6b56dfe0a2e34ebe" /><Relationship Type="http://schemas.openxmlformats.org/officeDocument/2006/relationships/officeDocument" Target="/ppt/presentation.xml" Id="R6e29a96e89a84a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755d1f50d44187"/>
  </p:sldMasterIdLst>
  <p:notesMasterIdLst>
    <p:notesMasterId xmlns:r="http://schemas.openxmlformats.org/officeDocument/2006/relationships" r:id="Ra546f7d2ce4b4221"/>
  </p:notesMasterIdLst>
  <p:sldIdLst>
    <p:sldId xmlns:r="http://schemas.openxmlformats.org/officeDocument/2006/relationships" id="256" r:id="R09b4269481f1418e"/>
    <p:sldId xmlns:r="http://schemas.openxmlformats.org/officeDocument/2006/relationships" id="257" r:id="R24ace5487fba419a"/>
    <p:sldId xmlns:r="http://schemas.openxmlformats.org/officeDocument/2006/relationships" id="258" r:id="R195b22dc847144f0"/>
    <p:sldId xmlns:r="http://schemas.openxmlformats.org/officeDocument/2006/relationships" id="259" r:id="R6390c3e43ada44c1"/>
    <p:sldId xmlns:r="http://schemas.openxmlformats.org/officeDocument/2006/relationships" id="260" r:id="R5100ddbe067649e9"/>
    <p:sldId xmlns:r="http://schemas.openxmlformats.org/officeDocument/2006/relationships" id="261" r:id="Rc0b7ad795966438f"/>
    <p:sldId xmlns:r="http://schemas.openxmlformats.org/officeDocument/2006/relationships" id="262" r:id="R851407f8405b4fdc"/>
    <p:sldId xmlns:r="http://schemas.openxmlformats.org/officeDocument/2006/relationships" id="263" r:id="Rfc7c5ed006b94c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e8f5b749ae4488" /><Relationship Type="http://schemas.openxmlformats.org/officeDocument/2006/relationships/slideMaster" Target="/ppt/slideMasters/slideMaster1.xml" Id="R08755d1f50d44187" /><Relationship Type="http://schemas.openxmlformats.org/officeDocument/2006/relationships/notesMaster" Target="/ppt/notesMasters/notesMaster1.xml" Id="Ra546f7d2ce4b4221" /><Relationship Type="http://schemas.openxmlformats.org/officeDocument/2006/relationships/presProps" Target="/ppt/presProps.xml" Id="R2ed20d8714084ff7" /><Relationship Type="http://schemas.openxmlformats.org/officeDocument/2006/relationships/tableStyles" Target="/ppt/tableStyles.xml" Id="R373bd05d5cb24b39" /><Relationship Type="http://schemas.openxmlformats.org/officeDocument/2006/relationships/slide" Target="/ppt/slides/slide1.xml" Id="R09b4269481f1418e" /><Relationship Type="http://schemas.openxmlformats.org/officeDocument/2006/relationships/slide" Target="/ppt/slides/slide2.xml" Id="R24ace5487fba419a" /><Relationship Type="http://schemas.openxmlformats.org/officeDocument/2006/relationships/slide" Target="/ppt/slides/slide3.xml" Id="R195b22dc847144f0" /><Relationship Type="http://schemas.openxmlformats.org/officeDocument/2006/relationships/slide" Target="/ppt/slides/slide4.xml" Id="R6390c3e43ada44c1" /><Relationship Type="http://schemas.openxmlformats.org/officeDocument/2006/relationships/slide" Target="/ppt/slides/slide5.xml" Id="R5100ddbe067649e9" /><Relationship Type="http://schemas.openxmlformats.org/officeDocument/2006/relationships/slide" Target="/ppt/slides/slide6.xml" Id="Rc0b7ad795966438f" /><Relationship Type="http://schemas.openxmlformats.org/officeDocument/2006/relationships/slide" Target="/ppt/slides/slide7.xml" Id="R851407f8405b4fdc" /><Relationship Type="http://schemas.openxmlformats.org/officeDocument/2006/relationships/slide" Target="/ppt/slides/slide8.xml" Id="Rfc7c5ed006b94c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89f7c6995b46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369bf5e979414d" /><Relationship Type="http://schemas.openxmlformats.org/officeDocument/2006/relationships/notesMaster" Target="/ppt/notesMasters/notesMaster1.xml" Id="R914eacd9ecf84e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7d824ca0b24d47" /><Relationship Type="http://schemas.openxmlformats.org/officeDocument/2006/relationships/notesMaster" Target="/ppt/notesMasters/notesMaster1.xml" Id="Rbf72cc26989042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35f01b735c4e29" /><Relationship Type="http://schemas.openxmlformats.org/officeDocument/2006/relationships/notesMaster" Target="/ppt/notesMasters/notesMaster1.xml" Id="Rbd21e9a8b9ad4e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53f82131354119" /><Relationship Type="http://schemas.openxmlformats.org/officeDocument/2006/relationships/notesMaster" Target="/ppt/notesMasters/notesMaster1.xml" Id="R79b3de17113a46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060fe661774fa9" /><Relationship Type="http://schemas.openxmlformats.org/officeDocument/2006/relationships/notesMaster" Target="/ppt/notesMasters/notesMaster1.xml" Id="R654131c438a74c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606aa219d94491" /><Relationship Type="http://schemas.openxmlformats.org/officeDocument/2006/relationships/notesMaster" Target="/ppt/notesMasters/notesMaster1.xml" Id="R123b4d91de344e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beb242a06c4e8b" /><Relationship Type="http://schemas.openxmlformats.org/officeDocument/2006/relationships/notesMaster" Target="/ppt/notesMasters/notesMaster1.xml" Id="R3bfb318429a946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2f6516667748d8" /><Relationship Type="http://schemas.openxmlformats.org/officeDocument/2006/relationships/notesMaster" Target="/ppt/notesMasters/notesMaster1.xml" Id="R4ef9e9234f7740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开场先讲结论：我没有重做 SocialReader，而是在通用采集底座上增加 food_v1 领域模块。这个 MVP 的重点不是声称模型更聪明，而是让新品、热门和用户原句都有可追溯的证据与明确边界。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D:\SocialReader\artifacts\ppt_overview_20260904.png</a:t>
            </a:r>
          </a:p>
          <a:p xmlns:a="http://schemas.openxmlformats.org/drawingml/2006/main">
            <a:r>
              <a:t>- D:\hermes\求职\海博拓天笔试题\AI美食社媒情报Agent-V2任务书.md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这一页强调为什么要做领域升级。通用采集解决输入问题，但业务要的是可解释结论：为什么算新品、为什么相对热门、推荐理由来自哪一句。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D:\hermes\求职\海博拓天笔试题\AI美食社媒情报Agent-V2任务书.md</a:t>
            </a:r>
          </a:p>
          <a:p xmlns:a="http://schemas.openxmlformats.org/drawingml/2006/main">
            <a:r>
              <a:t>- D:\SocialReader\README.md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这里不要把 V1 讲成单纯改写了一段 Prompt。真正的变化是任务拆分：抽取、候选、审核和理由各自保存，模型或规则的错误可以被定位，而不是只看到一段最终文案。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D:\SocialReader\domains\food_v1\evals\prompt_versions.json</a:t>
            </a:r>
          </a:p>
          <a:p xmlns:a="http://schemas.openxmlformats.org/drawingml/2006/main">
            <a:r>
              <a:t>- D:\SocialReader\domains\food_v1\manifest.json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用两个最容易理解的例子讲清楚。V0 依赖宽松关键词，所以会把空泛夸赞收进来，也会漏掉没有预设关键词但非常具体的表达。V1 的目标是提升边界质量，而不是在这里宣称生产准确率。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D:\SocialReader\eval_food.py</a:t>
            </a:r>
          </a:p>
          <a:p xmlns:a="http://schemas.openxmlformats.org/drawingml/2006/main">
            <a:r>
              <a:t>- D:\SocialReader\domains\food_v1\evals\stage1_acceptance_cases.jsonl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这页主动回答面试官可能追问的‘谁标的’。8 条是开发验收夹具；24 篇是未来计划，目前没有任何人完成标注。因此系统明确输出 production_metrics=null。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D:\SocialReader\domains\food_v1\evals\gold_cases_v1.jsonl</a:t>
            </a:r>
          </a:p>
          <a:p xmlns:a="http://schemas.openxmlformats.org/drawingml/2006/main">
            <a:r>
              <a:t>- D:\SocialReader\deliverables\pre_capture_demo\eval_report.json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只讲三类已经复现的结果：采集成功、测试通过、证据可回溯。55 条候选不是 55 条高质量推荐语，它们仍然待人工审核。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D:\SocialReader\deliverables\08_实施验收报告.md</a:t>
            </a:r>
          </a:p>
          <a:p xmlns:a="http://schemas.openxmlformats.org/drawingml/2006/main">
            <a:r>
              <a:t>- D:\SocialReader\deliverables\pre_capture_demo\eval_report.json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现场演示只走最短闭环。先展示关键词预览和当前运行统计，再切换到活人感表达库，说明每条原句都能看到来源类型、位置、规则判断和人工状态。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D:\SocialReader\artifacts\ppt_overview_20260904.png</a:t>
            </a:r>
          </a:p>
          <a:p xmlns:a="http://schemas.openxmlformats.org/drawingml/2006/main">
            <a:r>
              <a:t>- D:\SocialReader\artifacts\ppt_evidence_20260904.png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收尾回到开场：这个版本不是完成所有智能判断，而是把一个容易夸大的演示题做成可验证、可追溯、可继续迭代的 MVP。下一步优先补真实人工金标准和专业品类体系。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D:\SocialReader\deliverables\05_已知限制与后续计划.md</a:t>
            </a:r>
          </a:p>
          <a:p xmlns:a="http://schemas.openxmlformats.org/drawingml/2006/main">
            <a:r>
              <a:t>- D:\SocialReader\deliverables\08_实施验收报告.md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198fd426f54c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8db42866e449ba" /><Relationship Type="http://schemas.openxmlformats.org/officeDocument/2006/relationships/slideLayout" Target="/ppt/slideLayouts/slideLayout1.xml" Id="Rb1a3dfeec6dd42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a3dfeec6dd42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7a9a80083463e" /><Relationship Type="http://schemas.openxmlformats.org/officeDocument/2006/relationships/image" Target="/ppt/media/image.png" Id="R20c32863258a4f97" /><Relationship Type="http://schemas.openxmlformats.org/officeDocument/2006/relationships/notesSlide" Target="/ppt/notesSlides/notesSlide1.xml" Id="R088b3cea033248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baa5425314de8" /><Relationship Type="http://schemas.openxmlformats.org/officeDocument/2006/relationships/notesSlide" Target="/ppt/notesSlides/notesSlide2.xml" Id="Rf32bfc61cd2a47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537b8525b41f6" /><Relationship Type="http://schemas.openxmlformats.org/officeDocument/2006/relationships/notesSlide" Target="/ppt/notesSlides/notesSlide3.xml" Id="R457bbe0e36694d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047c4814fc4378" /><Relationship Type="http://schemas.openxmlformats.org/officeDocument/2006/relationships/notesSlide" Target="/ppt/notesSlides/notesSlide4.xml" Id="Rb3af89f1a43e4d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e8725c4e74b8b" /><Relationship Type="http://schemas.openxmlformats.org/officeDocument/2006/relationships/notesSlide" Target="/ppt/notesSlides/notesSlide5.xml" Id="R0368b75eaf7a43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bf512b33d4307" /><Relationship Type="http://schemas.openxmlformats.org/officeDocument/2006/relationships/notesSlide" Target="/ppt/notesSlides/notesSlide6.xml" Id="R34b8599819b94d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530e7d77146a1" /><Relationship Type="http://schemas.openxmlformats.org/officeDocument/2006/relationships/image" Target="/ppt/media/image2.png" Id="Rd60e255ed0354281" /><Relationship Type="http://schemas.openxmlformats.org/officeDocument/2006/relationships/image" Target="/ppt/media/image3.png" Id="Rc6e75531329442d7" /><Relationship Type="http://schemas.openxmlformats.org/officeDocument/2006/relationships/notesSlide" Target="/ppt/notesSlides/notesSlide7.xml" Id="Rf4e1aeb06e7948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61a2a23ac42c0" /><Relationship Type="http://schemas.openxmlformats.org/officeDocument/2006/relationships/notesSlide" Target="/ppt/notesSlides/notesSlide8.xml" Id="R8fccf9b65d1c4b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491CEFF-406D-4202-BF23-A02A6B5E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SOCIALREADER · FOOD_V1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E3A8D778-A3FA-4F65-B41A-C9D9DDE8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AI 美食社媒</a:t>
            </a:r>
          </a:p>
          <a:p xmlns:a="http://schemas.openxmlformats.org/drawingml/2006/main">
            <a:pPr algn="l">
              <a:defRPr sz="40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情报 Agent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B757AC3-7163-4C2D-BA11-C10979BD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从通用采集到可追溯的领域 MVP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3D29A083-EB0D-4FF7-86BE-B2B2D207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52850"/>
            <a:ext cx="436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D35"/>
          </a:solidFill>
          <a:ln xmlns:a="http://schemas.openxmlformats.org/drawingml/2006/main" w="0">
            <a:solidFill>
              <a:srgbClr val="B84D35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4D8736E-4F41-48F0-9591-12D80FE3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576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问题定义 · 规则迭代 · 测试证据 · 产品演示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3BC77EC-27C7-49FD-8E01-A93741D7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Shay  |  海博拓天笔试汇报  |  2026.09</a:t>
            </a:r>
          </a:p>
        </p:txBody>
      </p:sp>
      <p:sp>
        <p:nvSpPr>
          <p:cNvPr id="7" name="hero-frame">
            <a:extLst xmlns:a="http://schemas.openxmlformats.org/drawingml/2006/main">
              <a:ext uri="{FF2B5EF4-FFF2-40B4-BE49-F238E27FC236}">
                <a16:creationId xmlns:a16="http://schemas.microsoft.com/office/drawing/2014/main" id="{C6915A94-86DB-4B01-8026-0D8B3DE7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0050"/>
            <a:ext cx="5486400" cy="569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c32863258a4f97"/>
          <a:srcRect xmlns:a="http://schemas.openxmlformats.org/drawingml/2006/main" l="23166" t="0" r="231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5550" y="552450"/>
            <a:ext cx="5181600" cy="5391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1136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BF206961-3AA9-4870-8AF5-4F85C6A1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01 · 问题定义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9E20C7-06E1-4C01-9ABB-41898708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通用采集能拿到内容，但不能直接回答业务问题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ED8E67E-377E-41A9-920B-84753BB3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716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D9D2C7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91E90F3A-C287-4198-AFB9-F664D6E8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C686DC3-7034-4B14-AB19-7F2D6088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33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rPr>
              <a:t>原有能力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49E8D3E-EB31-4824-B69E-FB164BD8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4095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抓取公开内容</a:t>
            </a:r>
          </a:p>
          <a:p xmlns:a="http://schemas.openxmlformats.org/drawingml/2006/main">
            <a:pPr algn="l">
              <a:defRPr sz="18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保存正文、评论与视频</a:t>
            </a:r>
          </a:p>
          <a:p xmlns:a="http://schemas.openxmlformats.org/drawingml/2006/main">
            <a:pPr algn="l">
              <a:defRPr sz="18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复用浏览器登录态</a:t>
            </a:r>
          </a:p>
          <a:p xmlns:a="http://schemas.openxmlformats.org/drawingml/2006/main">
            <a:pPr algn="l">
              <a:defRPr sz="18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输出到本地知识库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0A7FA44-C87B-461B-B5F7-6496C2BA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4095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价值：保留了一套可复用的采集底座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D05DF06F-B488-421E-9020-3F1565D8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752600"/>
            <a:ext cx="1905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D9D2C7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EB96E5F-86E6-44A5-816D-58FD04C0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733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领域判断缺口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BA7ADFB-B6AB-4794-B9F7-431201FF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6695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“新品”缺少变更证据</a:t>
            </a:r>
          </a:p>
          <a:p xmlns:a="http://schemas.openxmlformats.org/drawingml/2006/main">
            <a:pPr algn="l">
              <a:defRPr sz="18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“热门”容易被误说成全站热榜</a:t>
            </a:r>
          </a:p>
          <a:p xmlns:a="http://schemas.openxmlformats.org/drawingml/2006/main">
            <a:pPr algn="l">
              <a:defRPr sz="18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空泛表达会混入推荐语料</a:t>
            </a:r>
          </a:p>
          <a:p xmlns:a="http://schemas.openxmlformats.org/drawingml/2006/main">
            <a:pPr algn="l">
              <a:defRPr sz="18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结论缺少原句与位置</a:t>
            </a:r>
          </a:p>
        </p:txBody>
      </p:sp>
      <p:sp>
        <p:nvSpPr>
          <p:cNvPr id="11" name="problem-callout">
            <a:extLst xmlns:a="http://schemas.openxmlformats.org/drawingml/2006/main">
              <a:ext uri="{FF2B5EF4-FFF2-40B4-BE49-F238E27FC236}">
                <a16:creationId xmlns:a16="http://schemas.microsoft.com/office/drawing/2014/main" id="{52D40DE1-170F-4416-8FA5-69CB9316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62500"/>
            <a:ext cx="45529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BCF"/>
          </a:solidFill>
          <a:ln xmlns:a="http://schemas.openxmlformats.org/drawingml/2006/main" w="0">
            <a:solidFill>
              <a:srgbClr val="F7EBCF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C1524D7-27FA-45D5-A96A-BE521F69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972050"/>
            <a:ext cx="415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A4A0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A4A0D"/>
                </a:solidFill>
                <a:latin typeface="Microsoft YaHei"/>
                <a:ea typeface="Microsoft YaHei"/>
                <a:cs typeface="Microsoft YaHei"/>
              </a:rPr>
              <a:t>核心问题不是抓不到，而是判断不可验证。</a:t>
            </a:r>
          </a:p>
        </p:txBody>
      </p:sp>
    </p:spTree>
    <p:extLst>
      <p:ext uri="{BB962C8B-B14F-4D97-AF65-F5344CB8AC3E}">
        <p14:creationId xmlns:p14="http://schemas.microsoft.com/office/powerpoint/2010/main" val="11363653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">
            <a:extLst xmlns:a="http://schemas.openxmlformats.org/drawingml/2006/main">
              <a:ext uri="{FF2B5EF4-FFF2-40B4-BE49-F238E27FC236}">
                <a16:creationId xmlns:a16="http://schemas.microsoft.com/office/drawing/2014/main" id="{1F88A49F-42F6-4081-BB54-468F4A6B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02 · 迭代路径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0BF3BE-CB66-4B9E-9168-BEFAC4A7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V1 把一次模糊萃取拆成四个可检查步骤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45DDF43E-8135-4CDB-8D94-61E73AE3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716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D9D2C7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BC73EB-4E27-40B2-A967-F7256360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6E3FDE9-0B4B-43C3-8A85-D7DF1557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V0：一个通用“爆款结构萃取”任务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D84988E-216C-42C5-9734-691259AE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V1：每一步都有结构化输出、规则版本和失败状态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0C32E053-5F71-427D-A4CB-165B9475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971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D9D2C7"/>
            </a:solidFill>
            <a:prstDash val="solid"/>
          </a:ln>
        </p:spPr>
      </p:sp>
      <p:sp>
        <p:nvSpPr>
          <p:cNvPr id="8" name="node-0">
            <a:extLst xmlns:a="http://schemas.openxmlformats.org/drawingml/2006/main">
              <a:ext uri="{FF2B5EF4-FFF2-40B4-BE49-F238E27FC236}">
                <a16:creationId xmlns:a16="http://schemas.microsoft.com/office/drawing/2014/main" id="{007CACF0-340F-4EDD-85C3-573B39D5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87A8A"/>
          </a:solidFill>
          <a:ln xmlns:a="http://schemas.openxmlformats.org/drawingml/2006/main" w="0">
            <a:solidFill>
              <a:srgbClr val="287A8A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77C1E46-9C6F-46CA-A678-00008D09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6CC7067-BCFD-4DEB-8B06-3DA8414A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食品知识抽取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5B6D44B-6367-4E67-A8F1-A84FA7F3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2238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菜品、食材、味道</a:t>
            </a:r>
          </a:p>
          <a:p xmlns:a="http://schemas.openxmlformats.org/drawingml/2006/main">
            <a:pPr algn="l">
              <a:def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口感、做法、场景</a:t>
            </a:r>
          </a:p>
        </p:txBody>
      </p:sp>
      <p:sp>
        <p:nvSpPr>
          <p:cNvPr id="12" name="node-1">
            <a:extLst xmlns:a="http://schemas.openxmlformats.org/drawingml/2006/main">
              <a:ext uri="{FF2B5EF4-FFF2-40B4-BE49-F238E27FC236}">
                <a16:creationId xmlns:a16="http://schemas.microsoft.com/office/drawing/2014/main" id="{C1CDFE50-2D7D-42D0-903C-56061D37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051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87A8A"/>
          </a:solidFill>
          <a:ln xmlns:a="http://schemas.openxmlformats.org/drawingml/2006/main" w="0">
            <a:solidFill>
              <a:srgbClr val="287A8A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7063063-B017-4D88-AEAC-8BCA0AAD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957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BA8C0DB-8D59-4749-8149-24F201D0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386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表达候选发现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27F8F53-85D8-4ACC-9010-7F4DB28F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95800"/>
            <a:ext cx="2238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保留具体原句</a:t>
            </a:r>
          </a:p>
          <a:p xmlns:a="http://schemas.openxmlformats.org/drawingml/2006/main">
            <a:pPr algn="l">
              <a:def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过滤泛泛描述</a:t>
            </a:r>
          </a:p>
        </p:txBody>
      </p:sp>
      <p:sp>
        <p:nvSpPr>
          <p:cNvPr id="16" name="node-2">
            <a:extLst xmlns:a="http://schemas.openxmlformats.org/drawingml/2006/main">
              <a:ext uri="{FF2B5EF4-FFF2-40B4-BE49-F238E27FC236}">
                <a16:creationId xmlns:a16="http://schemas.microsoft.com/office/drawing/2014/main" id="{34CED288-3F50-4F07-A8AD-D2507F1C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051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87A8A"/>
          </a:solidFill>
          <a:ln xmlns:a="http://schemas.openxmlformats.org/drawingml/2006/main" w="0">
            <a:solidFill>
              <a:srgbClr val="287A8A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1334A736-EFFE-44F6-BA01-C9DD5081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957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58329A0-9A9A-46ED-95D3-6DEA8A6E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386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独立证据审核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235D43EB-BC0E-49D3-90E1-92F5A88A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95800"/>
            <a:ext cx="2238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检查对象、位置</a:t>
            </a:r>
          </a:p>
          <a:p xmlns:a="http://schemas.openxmlformats.org/drawingml/2006/main">
            <a:pPr algn="l">
              <a:def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风险与可回溯性</a:t>
            </a:r>
          </a:p>
        </p:txBody>
      </p:sp>
      <p:sp>
        <p:nvSpPr>
          <p:cNvPr id="20" name="node-3">
            <a:extLst xmlns:a="http://schemas.openxmlformats.org/drawingml/2006/main">
              <a:ext uri="{FF2B5EF4-FFF2-40B4-BE49-F238E27FC236}">
                <a16:creationId xmlns:a16="http://schemas.microsoft.com/office/drawing/2014/main" id="{E4431F1A-2ED5-49F2-B619-22CE9AF0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051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B84D35"/>
          </a:solidFill>
          <a:ln xmlns:a="http://schemas.openxmlformats.org/drawingml/2006/main" w="0">
            <a:solidFill>
              <a:srgbClr val="B84D35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9F7FA83-EBF3-4100-9D32-2226F90C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6957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B3CA8D5-6395-432A-84FC-41F23CA1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386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推荐理由生成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B36DFB3-79F0-4F8F-9238-87DF311C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95800"/>
            <a:ext cx="2238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仅使用通过证据</a:t>
            </a:r>
          </a:p>
          <a:p xmlns:a="http://schemas.openxmlformats.org/drawingml/2006/main">
            <a:pPr algn="l">
              <a:def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不把 ID 当结论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830C96D-94CD-4755-AE9C-F81BDA44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Prompt 被拆小，判断边界进入规则，最终结论保留人工审核。</a:t>
            </a:r>
          </a:p>
        </p:txBody>
      </p:sp>
    </p:spTree>
    <p:extLst>
      <p:ext uri="{BB962C8B-B14F-4D97-AF65-F5344CB8AC3E}">
        <p14:creationId xmlns:p14="http://schemas.microsoft.com/office/powerpoint/2010/main" val="4809763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A7DC2723-2729-472C-BECC-3D55B4FC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03 · 前后对比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54C84A2-9DE9-4B67-9A21-C71DE168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边界样例暴露了 V0 的误收与漏收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EC1E7D8-341E-43DB-AE1C-E4E43E53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716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D9D2C7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1EDAD3A5-CD52-4EEC-B322-988E401E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1901B9E-51FD-42B8-860B-74B0F99F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V0 · 宽松关键词基线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2A45F94-9605-4F65-8A0D-0E9B75AE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“好吃绝了”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B9A9F79-954A-4FED-8E00-34A6525F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命中“好吃 / 绝” → 误收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0A48663-7F61-42CC-B7B8-24B2DDBA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“每一口都能嚼到虾肉”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D008504-BB56-4FB7-B69F-39718C2A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未命中关键词 → 漏收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AB6DADC3-64A0-4D7A-A55A-40FFBFF7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33550"/>
            <a:ext cx="190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D9D2C7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A0E7F05-5442-4FFA-A7DA-6B892FCF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335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rPr>
              <a:t>V1 · 食品表达规则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66DA970-47C6-4A98-AA30-2CB51394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431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泛泛夸赞，没有对象和感官细节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248E26B-55B2-40EB-A045-8694B28E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099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rPr>
              <a:t>generic noise → 过滤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0E12F6B-9C58-439A-8305-979F7743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100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具体食材＋明确口感体验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963B8CA-A984-4BC6-913E-7D065F78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767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rPr>
              <a:t>specific evidence → 保留待审</a:t>
            </a:r>
          </a:p>
        </p:txBody>
      </p:sp>
      <p:sp>
        <p:nvSpPr>
          <p:cNvPr id="16" name="scope-note">
            <a:extLst xmlns:a="http://schemas.openxmlformats.org/drawingml/2006/main">
              <a:ext uri="{FF2B5EF4-FFF2-40B4-BE49-F238E27FC236}">
                <a16:creationId xmlns:a16="http://schemas.microsoft.com/office/drawing/2014/main" id="{ACEBE348-DB55-48FE-B835-D3D98743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248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DD5"/>
          </a:solidFill>
          <a:ln xmlns:a="http://schemas.openxmlformats.org/drawingml/2006/main" w="0">
            <a:solidFill>
              <a:srgbClr val="F3DDD5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4EB3D7A-7112-454D-A5E7-05969761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7215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733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73322"/>
                </a:solidFill>
                <a:latin typeface="Microsoft YaHei"/>
                <a:ea typeface="Microsoft YaHei"/>
                <a:cs typeface="Microsoft YaHei"/>
              </a:rPr>
              <a:t>说明：这是固定边界样例的规则对比，不是大模型 Prompt A/B。</a:t>
            </a:r>
          </a:p>
        </p:txBody>
      </p:sp>
    </p:spTree>
    <p:extLst>
      <p:ext uri="{BB962C8B-B14F-4D97-AF65-F5344CB8AC3E}">
        <p14:creationId xmlns:p14="http://schemas.microsoft.com/office/powerpoint/2010/main" val="3068658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E28AA621-7D28-475A-89F8-25BAD3E7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04 · 评测设计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6A1560-BC9D-43AA-A6BC-2CB0D162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测试夹具和人工金标准必须分开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81B877B0-FC33-43BC-B706-FFFB3B4B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716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D9D2C7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0740D232-320B-4943-A86B-12E8D10E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contract-layer">
            <a:extLst xmlns:a="http://schemas.openxmlformats.org/drawingml/2006/main">
              <a:ext uri="{FF2B5EF4-FFF2-40B4-BE49-F238E27FC236}">
                <a16:creationId xmlns:a16="http://schemas.microsoft.com/office/drawing/2014/main" id="{89074609-F283-46DC-A2E4-3B3D6B97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95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AEA09AA-2057-4AEB-8BAB-FE609A61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rPr>
              <a:t>8 条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14C185A-87C1-410E-8ED7-14C79BFBA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固定边界样例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0C500D80-27A7-4D93-B324-011BE5DD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4000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开发时预设保留/过滤答案</a:t>
            </a:r>
          </a:p>
          <a:p xmlns:a="http://schemas.openxmlformats.org/drawingml/2006/main">
            <a:pPr algn="l">
              <a:defRPr sz="15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用于防止规则回退</a:t>
            </a:r>
          </a:p>
          <a:p xmlns:a="http://schemas.openxmlformats.org/drawingml/2006/main">
            <a:pPr algn="l">
              <a:defRPr sz="15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V0 匹配 4/8，V1 匹配 8/8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820456E-1D48-4E65-8D4A-0E68341F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不能代表真实业务准确率</a:t>
            </a:r>
          </a:p>
        </p:txBody>
      </p:sp>
      <p:sp>
        <p:nvSpPr>
          <p:cNvPr id="10" name="gold-layer">
            <a:extLst xmlns:a="http://schemas.openxmlformats.org/drawingml/2006/main">
              <a:ext uri="{FF2B5EF4-FFF2-40B4-BE49-F238E27FC236}">
                <a16:creationId xmlns:a16="http://schemas.microsoft.com/office/drawing/2014/main" id="{6B347244-2F22-4A85-A5F5-DCA66C16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14500"/>
            <a:ext cx="495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8501653-A0CD-4B65-B793-FD80D83F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025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0 / 24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C687E00-28E9-4405-8707-83CE37C9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已完成人工金标准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E05AC123-FEE3-47DE-9F2D-72D3F8D3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95650"/>
            <a:ext cx="4000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24 篇只是计划验收规模</a:t>
            </a:r>
          </a:p>
          <a:p xmlns:a="http://schemas.openxmlformats.org/drawingml/2006/main">
            <a:pPr algn="l">
              <a:defRPr sz="15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当前收集 5 篇待标内容</a:t>
            </a:r>
          </a:p>
          <a:p xmlns:a="http://schemas.openxmlformats.org/drawingml/2006/main">
            <a:pPr algn="l">
              <a:defRPr sz="15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主标注者、复核者均为空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09F11A8-5557-4445-9BAE-8C354407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291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production_metrics = null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BCEB565-6A51-47A8-9343-07AF018BF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24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结论：现在能证明规则符合预设边界，不能声称真实准确率提升。</a:t>
            </a:r>
          </a:p>
        </p:txBody>
      </p:sp>
    </p:spTree>
    <p:extLst>
      <p:ext uri="{BB962C8B-B14F-4D97-AF65-F5344CB8AC3E}">
        <p14:creationId xmlns:p14="http://schemas.microsoft.com/office/powerpoint/2010/main" val="21021496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B3551C3F-D981-43B7-9083-368A0F71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05 · 验证结果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DD02E1-E015-4671-9689-701E7E2F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当前成果只报告可复现的工程证据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2ED3B78-1E02-468F-A460-9BB8CA73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716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D9D2C7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06FC54AA-C3B6-4655-B0EF-68A19A53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F23BC08-BB1C-435C-8B8D-D8913E57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以下数据来自本次本地运行与自动化检查；口径均限定在当前样本和当前代码。</a:t>
            </a:r>
          </a:p>
        </p:txBody>
      </p:sp>
      <p:sp>
        <p:nvSpPr>
          <p:cNvPr id="6" name="metric-0">
            <a:extLst xmlns:a="http://schemas.openxmlformats.org/drawingml/2006/main">
              <a:ext uri="{FF2B5EF4-FFF2-40B4-BE49-F238E27FC236}">
                <a16:creationId xmlns:a16="http://schemas.microsoft.com/office/drawing/2014/main" id="{F8DC2BF5-BD18-4424-8BC9-59D96E8E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33337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E1"/>
          </a:solidFill>
          <a:ln xmlns:a="http://schemas.openxmlformats.org/drawingml/2006/main" w="0">
            <a:solidFill>
              <a:srgbClr val="ECE8E1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32A00F1-E3EB-402F-A475-147FA6F9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2800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5 / 5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BFCCAE9-A4CF-4B10-9B42-CCCE940D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2800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真实详情采集成功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C190100-56AE-422D-86AB-D8DDFCC6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小红书 3 条＋抖音 2 条</a:t>
            </a:r>
          </a:p>
        </p:txBody>
      </p:sp>
      <p:sp>
        <p:nvSpPr>
          <p:cNvPr id="10" name="metric-1">
            <a:extLst xmlns:a="http://schemas.openxmlformats.org/drawingml/2006/main">
              <a:ext uri="{FF2B5EF4-FFF2-40B4-BE49-F238E27FC236}">
                <a16:creationId xmlns:a16="http://schemas.microsoft.com/office/drawing/2014/main" id="{980437EE-C769-432A-904B-3F8C86F4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33337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DEF"/>
          </a:solidFill>
          <a:ln xmlns:a="http://schemas.openxmlformats.org/drawingml/2006/main" w="0">
            <a:solidFill>
              <a:srgbClr val="DCEDEF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16B17BF-C29A-4656-B914-200BE472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2800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rPr>
              <a:t>16 / 16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C06B2D0-46C7-4F25-95AA-7DDF22FE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19550"/>
            <a:ext cx="2800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单元与回归测试通过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E31C616-CB07-4FF4-8ACA-7F2D182F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5775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阶段 1–4 与通用功能回归</a:t>
            </a:r>
          </a:p>
        </p:txBody>
      </p:sp>
      <p:sp>
        <p:nvSpPr>
          <p:cNvPr id="14" name="metric-2">
            <a:extLst xmlns:a="http://schemas.openxmlformats.org/drawingml/2006/main">
              <a:ext uri="{FF2B5EF4-FFF2-40B4-BE49-F238E27FC236}">
                <a16:creationId xmlns:a16="http://schemas.microsoft.com/office/drawing/2014/main" id="{702E371B-C147-4A74-857B-30638FF7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67000"/>
            <a:ext cx="33337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E1"/>
          </a:solidFill>
          <a:ln xmlns:a="http://schemas.openxmlformats.org/drawingml/2006/main" w="0">
            <a:solidFill>
              <a:srgbClr val="ECE8E1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E336D03-C6D1-4A81-8E24-57CB5020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05150"/>
            <a:ext cx="2800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55 / 55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365DFF3-4F34-4983-A2CA-74B4C300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19550"/>
            <a:ext cx="2800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候选表达可回溯原句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D66A4D1-21A1-4021-AE33-32513CBD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5775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仍全部处于人工待审核状态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2A18913-A8CE-4671-82AD-8220286D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19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未报告：生产准确率、平台全站热度、人工确认推荐理由。</a:t>
            </a:r>
          </a:p>
        </p:txBody>
      </p:sp>
    </p:spTree>
    <p:extLst>
      <p:ext uri="{BB962C8B-B14F-4D97-AF65-F5344CB8AC3E}">
        <p14:creationId xmlns:p14="http://schemas.microsoft.com/office/powerpoint/2010/main" val="3190310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">
            <a:extLst xmlns:a="http://schemas.openxmlformats.org/drawingml/2006/main">
              <a:ext uri="{FF2B5EF4-FFF2-40B4-BE49-F238E27FC236}">
                <a16:creationId xmlns:a16="http://schemas.microsoft.com/office/drawing/2014/main" id="{8A729D1B-0AA3-4E6B-986A-B5E2C0E1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06 · 产品功能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26398F-07DC-4E7C-BA79-5BCFCD9F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页面把采集、判断和人工审核连成一条演示链路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2449E6F4-7616-4387-A249-8357A3DC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716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D9D2C7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3EBFA17A-1692-4B8A-A685-95010AF9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overview-frame">
            <a:extLst xmlns:a="http://schemas.openxmlformats.org/drawingml/2006/main">
              <a:ext uri="{FF2B5EF4-FFF2-40B4-BE49-F238E27FC236}">
                <a16:creationId xmlns:a16="http://schemas.microsoft.com/office/drawing/2014/main" id="{3BC43C1B-64D6-42D8-A091-FD219679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0e255ed0354281"/>
          <a:srcRect xmlns:a="http://schemas.openxmlformats.org/drawingml/2006/main" l="0" t="1553" r="0" b="15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790700"/>
            <a:ext cx="5105400" cy="2762250"/>
          </a:xfrm>
          <a:prstGeom xmlns:a="http://schemas.openxmlformats.org/drawingml/2006/main" prst="rect">
            <a:avLst/>
          </a:prstGeom>
        </p:spPr>
      </p:pic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F16E1E8-37CA-4BFA-905C-EE2FD552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① 任务设置与关键词预览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D7841FD-A664-4ADC-8C8B-B527B863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预览不篡改最近运行指标；点击开始后才更新。</a:t>
            </a:r>
          </a:p>
        </p:txBody>
      </p:sp>
      <p:sp>
        <p:nvSpPr>
          <p:cNvPr id="9" name="evidence-frame">
            <a:extLst xmlns:a="http://schemas.openxmlformats.org/drawingml/2006/main">
              <a:ext uri="{FF2B5EF4-FFF2-40B4-BE49-F238E27FC236}">
                <a16:creationId xmlns:a16="http://schemas.microsoft.com/office/drawing/2014/main" id="{74CCE701-F03F-48BF-BA3B-BAAD4A08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75531329442d7"/>
          <a:srcRect xmlns:a="http://schemas.openxmlformats.org/drawingml/2006/main" l="0" t="1553" r="0" b="15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1790700"/>
            <a:ext cx="5105400" cy="2762250"/>
          </a:xfrm>
          <a:prstGeom xmlns:a="http://schemas.openxmlformats.org/drawingml/2006/main" prst="rect">
            <a:avLst/>
          </a:prstGeom>
        </p:spPr>
      </p:pic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7A1A5EF-1469-4D9B-A22D-7D9C72E4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625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② 原句证据与人工审核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88E30A1-FEC7-4DDE-808D-D9A948DA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244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正文、评论、ASR 都保留来源位置与待审状态。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ADF3ED4-E96F-4922-9B79-6AD1F583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rPr>
              <a:t>演示顺序：输入关键词 → 候选池 → 详情采集 → 食品卡 → 表达审核 → 推荐理由</a:t>
            </a:r>
          </a:p>
        </p:txBody>
      </p:sp>
    </p:spTree>
    <p:extLst>
      <p:ext uri="{BB962C8B-B14F-4D97-AF65-F5344CB8AC3E}">
        <p14:creationId xmlns:p14="http://schemas.microsoft.com/office/powerpoint/2010/main" val="16560187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859384B2-139E-4BFD-9AB1-8C06DB7F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07 · 结论与下一步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5AD5C8-BBD8-4701-B869-4C8D6E41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这个 MVP 的价值是可验证，而不是假装已经成熟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5A8399CA-F1DF-40B0-8421-23E281D6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716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D9D2C7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189D7E9A-6DCE-4E84-9CAD-AF2B5CC6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7B2B280E-5D3B-4569-9047-AC93BCAF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rPr>
              <a:t>已经完成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39A158A-DE54-4C38-8548-FE35DADB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476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✓ 保留通用采集底座</a:t>
            </a:r>
          </a:p>
          <a:p xmlns:a="http://schemas.openxmlformats.org/drawingml/2006/main">
            <a:pPr algn="l">
              <a:def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✓ 增加 food_v1 独立模块</a:t>
            </a:r>
          </a:p>
          <a:p xmlns:a="http://schemas.openxmlformats.org/drawingml/2006/main">
            <a:pPr algn="l">
              <a:def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✓ 新品、热门、表达拆分规则</a:t>
            </a:r>
          </a:p>
          <a:p xmlns:a="http://schemas.openxmlformats.org/drawingml/2006/main">
            <a:pPr algn="l">
              <a:def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✓ 原句、位置和审核状态可追溯</a:t>
            </a:r>
          </a:p>
          <a:p xmlns:a="http://schemas.openxmlformats.org/drawingml/2006/main">
            <a:pPr algn="l">
              <a:def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✓ 失败与证据不足明确展示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690D774-85AE-4E7B-9A5F-C56C01D6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7165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D9D2C7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1CFCEA2D-C3A5-460A-8120-66256D16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716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仍待完成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39B229D-81C6-4E7D-B737-EA49AD23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24100"/>
            <a:ext cx="4476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→ 重构食品层级与多维属性</a:t>
            </a:r>
          </a:p>
          <a:p xmlns:a="http://schemas.openxmlformats.org/drawingml/2006/main">
            <a:pPr algn="l">
              <a:def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→ 完成 24 篇人工金标准</a:t>
            </a:r>
          </a:p>
          <a:p xmlns:a="http://schemas.openxmlformats.org/drawingml/2006/main">
            <a:pPr algn="l">
              <a:def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→ 双人复核并计算真实指标</a:t>
            </a:r>
          </a:p>
          <a:p xmlns:a="http://schemas.openxmlformats.org/drawingml/2006/main">
            <a:pPr algn="l">
              <a:def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→ 处理 ASR 错字与令牌过期</a:t>
            </a:r>
          </a:p>
          <a:p xmlns:a="http://schemas.openxmlformats.org/drawingml/2006/main">
            <a:pPr algn="l">
              <a:def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→ 扩大同平台候选池验证</a:t>
            </a:r>
          </a:p>
        </p:txBody>
      </p:sp>
      <p:sp>
        <p:nvSpPr>
          <p:cNvPr id="10" name="closing-statement">
            <a:extLst xmlns:a="http://schemas.openxmlformats.org/drawingml/2006/main">
              <a:ext uri="{FF2B5EF4-FFF2-40B4-BE49-F238E27FC236}">
                <a16:creationId xmlns:a16="http://schemas.microsoft.com/office/drawing/2014/main" id="{7208ACF7-805E-4420-94D1-D51CAFA0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248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D35"/>
          </a:solidFill>
          <a:ln xmlns:a="http://schemas.openxmlformats.org/drawingml/2006/main" w="0">
            <a:solidFill>
              <a:srgbClr val="B84D35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3B426B5-C287-4942-BB62-ABFA6DE5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0070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先让每个结论站得住，再逐步追求更高的自动化。</a:t>
            </a:r>
          </a:p>
        </p:txBody>
      </p:sp>
    </p:spTree>
    <p:extLst>
      <p:ext uri="{BB962C8B-B14F-4D97-AF65-F5344CB8AC3E}">
        <p14:creationId xmlns:p14="http://schemas.microsoft.com/office/powerpoint/2010/main" val="7352265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2026-09-03T18:41:04.5640000Z</dcterms:created>
  <dcterms:modified xsi:type="dcterms:W3CDTF">2026-09-03T18:41:04.5640000Z</dcterms:modified>
</coreProperties>
</file>