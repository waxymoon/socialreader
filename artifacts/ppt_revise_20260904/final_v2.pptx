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0a23061e3c4ce8" /><Relationship Type="http://schemas.openxmlformats.org/officeDocument/2006/relationships/extended-properties" Target="/docProps/app.xml" Id="R0e27dbed489d4349" /><Relationship Type="http://schemas.openxmlformats.org/officeDocument/2006/relationships/officeDocument" Target="/ppt/presentation.xml" Id="Re029fe63045f43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424b1ee18f42a6"/>
  </p:sldMasterIdLst>
  <p:notesMasterIdLst>
    <p:notesMasterId xmlns:r="http://schemas.openxmlformats.org/officeDocument/2006/relationships" r:id="R16099437c8f24ec5"/>
  </p:notesMasterIdLst>
  <p:sldIdLst>
    <p:sldId xmlns:r="http://schemas.openxmlformats.org/officeDocument/2006/relationships" id="256" r:id="R89b410f3921d4dec"/>
    <p:sldId xmlns:r="http://schemas.openxmlformats.org/officeDocument/2006/relationships" id="257" r:id="R8c10f1387acf4eb6"/>
    <p:sldId xmlns:r="http://schemas.openxmlformats.org/officeDocument/2006/relationships" id="258" r:id="R5b3bc2ea8b234f81"/>
    <p:sldId xmlns:r="http://schemas.openxmlformats.org/officeDocument/2006/relationships" id="259" r:id="R5f41b36474754c2e"/>
    <p:sldId xmlns:r="http://schemas.openxmlformats.org/officeDocument/2006/relationships" id="260" r:id="Rc3147b433c374757"/>
    <p:sldId xmlns:r="http://schemas.openxmlformats.org/officeDocument/2006/relationships" id="261" r:id="R9f363e73a2f14635"/>
    <p:sldId xmlns:r="http://schemas.openxmlformats.org/officeDocument/2006/relationships" id="262" r:id="Rde828bcb95cb49f0"/>
    <p:sldId xmlns:r="http://schemas.openxmlformats.org/officeDocument/2006/relationships" id="263" r:id="Reb18e3f6286c427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41f390674f44a0" /><Relationship Type="http://schemas.openxmlformats.org/officeDocument/2006/relationships/slideMaster" Target="/ppt/slideMasters/slideMaster1.xml" Id="R38424b1ee18f42a6" /><Relationship Type="http://schemas.openxmlformats.org/officeDocument/2006/relationships/notesMaster" Target="/ppt/notesMasters/notesMaster1.xml" Id="R16099437c8f24ec5" /><Relationship Type="http://schemas.openxmlformats.org/officeDocument/2006/relationships/presProps" Target="/ppt/presProps.xml" Id="R314a407df06e4001" /><Relationship Type="http://schemas.openxmlformats.org/officeDocument/2006/relationships/tableStyles" Target="/ppt/tableStyles.xml" Id="Reff14bce23bd4e49" /><Relationship Type="http://schemas.openxmlformats.org/officeDocument/2006/relationships/slide" Target="/ppt/slides/slide1.xml" Id="R89b410f3921d4dec" /><Relationship Type="http://schemas.openxmlformats.org/officeDocument/2006/relationships/slide" Target="/ppt/slides/slide2.xml" Id="R8c10f1387acf4eb6" /><Relationship Type="http://schemas.openxmlformats.org/officeDocument/2006/relationships/slide" Target="/ppt/slides/slide3.xml" Id="R5b3bc2ea8b234f81" /><Relationship Type="http://schemas.openxmlformats.org/officeDocument/2006/relationships/slide" Target="/ppt/slides/slide4.xml" Id="R5f41b36474754c2e" /><Relationship Type="http://schemas.openxmlformats.org/officeDocument/2006/relationships/slide" Target="/ppt/slides/slide5.xml" Id="Rc3147b433c374757" /><Relationship Type="http://schemas.openxmlformats.org/officeDocument/2006/relationships/slide" Target="/ppt/slides/slide6.xml" Id="R9f363e73a2f14635" /><Relationship Type="http://schemas.openxmlformats.org/officeDocument/2006/relationships/slide" Target="/ppt/slides/slide7.xml" Id="Rde828bcb95cb49f0" /><Relationship Type="http://schemas.openxmlformats.org/officeDocument/2006/relationships/slide" Target="/ppt/slides/slide8.xml" Id="Reb18e3f6286c42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911fe8184847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70fe0fc32c4a1c" /><Relationship Type="http://schemas.openxmlformats.org/officeDocument/2006/relationships/notesMaster" Target="/ppt/notesMasters/notesMaster1.xml" Id="R82c965ebfa9347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8fb1fca0ae4620" /><Relationship Type="http://schemas.openxmlformats.org/officeDocument/2006/relationships/notesMaster" Target="/ppt/notesMasters/notesMaster1.xml" Id="R94938cedb77d41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350fd217ad6434f" /><Relationship Type="http://schemas.openxmlformats.org/officeDocument/2006/relationships/notesMaster" Target="/ppt/notesMasters/notesMaster1.xml" Id="R2bc11a215bef42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e7769ba11748a1" /><Relationship Type="http://schemas.openxmlformats.org/officeDocument/2006/relationships/notesMaster" Target="/ppt/notesMasters/notesMaster1.xml" Id="R690e7ff1f02f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58e6d0938548f5" /><Relationship Type="http://schemas.openxmlformats.org/officeDocument/2006/relationships/notesMaster" Target="/ppt/notesMasters/notesMaster1.xml" Id="R9f05342918ec45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3ca08c45e44152" /><Relationship Type="http://schemas.openxmlformats.org/officeDocument/2006/relationships/notesMaster" Target="/ppt/notesMasters/notesMaster1.xml" Id="R66043f7c26e442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95c9d7f53314e4a" /><Relationship Type="http://schemas.openxmlformats.org/officeDocument/2006/relationships/notesMaster" Target="/ppt/notesMasters/notesMaster1.xml" Id="R37a5927c8c4c41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3f900221a06403a" /><Relationship Type="http://schemas.openxmlformats.org/officeDocument/2006/relationships/notesMaster" Target="/ppt/notesMasters/notesMaster1.xml" Id="Reb5b30b59bcc4d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开场先讲结论：我没有重做 SocialReader，而是在通用采集底座上增加 food_v1 领域模块。这个 MVP 的重点不是声称模型更聪明，而是让新品、热门和用户原句都有可追溯的证据与明确边界。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D:\SocialReader\artifacts\ppt_cover_20260904.png</a:t>
            </a:r>
          </a:p>
          <a:p xmlns:a="http://schemas.openxmlformats.org/drawingml/2006/main">
            <a:r>
              <a:t>- D:\hermes\求职\海博拓天笔试题\AI美食社媒情报Agent-V2任务书.md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先让面试官看懂产品，再解释技术。输入一个食品关键词后，页面给出候选池、食品知识卡、可回溯原句和人工审核入口。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D:\SocialReader\artifacts\ppt_overview_20260904.png</a:t>
            </a:r>
          </a:p>
          <a:p xmlns:a="http://schemas.openxmlformats.org/drawingml/2006/main">
            <a:r>
              <a:t>- D:\SocialReader\web\food.html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V0 是一次性总结，V1 是四步流程。这样能看清是原始数据没抓到、表达没抽到、审核没通过，还是证据不足不能生成理由。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D:\SocialReader\domains\food_v1\evals\prompt_versions.json</a:t>
            </a:r>
          </a:p>
          <a:p xmlns:a="http://schemas.openxmlformats.org/drawingml/2006/main">
            <a:r>
              <a:t>- D:\SocialReader\domains\food_v1\manifest.json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左边和右边都是仓库中的真实 Prompt 原文摘录。V0 关注爆点与内容结构，适合通用知识萃取；V1 增加逐字原句、证据不足不得猜测、独立审核和人工通过后才能生成理由。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D:\SocialReader\extract_capture.py:148</a:t>
            </a:r>
          </a:p>
          <a:p xmlns:a="http://schemas.openxmlformats.org/drawingml/2006/main">
            <a:r>
              <a:t>- D:\SocialReader\domains\food_v1\prompts\extract_food_v1.txt</a:t>
            </a:r>
          </a:p>
          <a:p xmlns:a="http://schemas.openxmlformats.org/drawingml/2006/main">
            <a:r>
              <a:t>- D:\SocialReader\domains\food_v1\prompts\extract_expression_v1.txt</a:t>
            </a:r>
          </a:p>
          <a:p xmlns:a="http://schemas.openxmlformats.org/drawingml/2006/main">
            <a:r>
              <a:t>- D:\SocialReader\domains\food_v1\prompts\review_evidence_v1.txt</a:t>
            </a:r>
          </a:p>
          <a:p xmlns:a="http://schemas.openxmlformats.org/drawingml/2006/main">
            <a:r>
              <a:t>- D:\SocialReader\domains\food_v1\prompts\generate_reason_v1.txt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这一页可以直接逐行讲。四个红色叉号就是 V0 的问题：漏掉一条具体口感，误收三条泛化或风险表达；V1 在这 8 个固定边界样例中全部符合预设答案。强调这不是生产准确率。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D:\SocialReader\domains\food_v1\evals\stage1_acceptance_cases.jsonl</a:t>
            </a:r>
          </a:p>
          <a:p xmlns:a="http://schemas.openxmlformats.org/drawingml/2006/main">
            <a:r>
              <a:t>- D:\SocialReader\deliverables\pre_capture_demo\eval_report.json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这页的左侧就是实际页面截图，右侧逐个解释数字。27 是当前可见候选池，不是全站；5/5 是本次详情采集成功；55 是候选原句，不是 55 条已确认推荐理由。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D:\SocialReader\artifacts\ppt_overview_20260904.png</a:t>
            </a:r>
          </a:p>
          <a:p xmlns:a="http://schemas.openxmlformats.org/drawingml/2006/main">
            <a:r>
              <a:t>- D:\SocialReader\deliverables\08_实施验收报告.md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左图证明卡片不是凭空生成：页面保留原链接。右图证明证据 ID 背后有真实原句、来源类型、位置、规则状态和人工状态。现场演示点这两处就够了。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D:\SocialReader\artifacts\ppt_cards_links_20260904.png</a:t>
            </a:r>
          </a:p>
          <a:p xmlns:a="http://schemas.openxmlformats.org/drawingml/2006/main">
            <a:r>
              <a:t>- D:\SocialReader\artifacts\ppt_evidence_20260904.png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收尾回到开场：这个版本不是完成所有智能判断，而是把一个容易夸大的演示题做成可验证、可追溯、可继续迭代的 MVP。下一步优先补真实人工金标准和专业品类体系。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D:\SocialReader\deliverables\05_已知限制与后续计划.md</a:t>
            </a:r>
          </a:p>
          <a:p xmlns:a="http://schemas.openxmlformats.org/drawingml/2006/main">
            <a:r>
              <a:t>- D:\SocialReader\deliverables\08_实施验收报告.md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b8b6c862f4b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abeea3042d4462" /><Relationship Type="http://schemas.openxmlformats.org/officeDocument/2006/relationships/slideLayout" Target="/ppt/slideLayouts/slideLayout1.xml" Id="Rb6016c15717347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016c15717347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6e3661219438c" /><Relationship Type="http://schemas.openxmlformats.org/officeDocument/2006/relationships/image" Target="/ppt/media/image.png" Id="R50fceb5da0034802" /><Relationship Type="http://schemas.openxmlformats.org/officeDocument/2006/relationships/notesSlide" Target="/ppt/notesSlides/notesSlide1.xml" Id="R35c68b0a959848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9a299ed8247fa" /><Relationship Type="http://schemas.openxmlformats.org/officeDocument/2006/relationships/image" Target="/ppt/media/image2.png" Id="Rfcc3030b36c14607" /><Relationship Type="http://schemas.openxmlformats.org/officeDocument/2006/relationships/notesSlide" Target="/ppt/notesSlides/notesSlide2.xml" Id="Re05d94fcc6c944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3fa7891d304a9d" /><Relationship Type="http://schemas.openxmlformats.org/officeDocument/2006/relationships/notesSlide" Target="/ppt/notesSlides/notesSlide3.xml" Id="R103c9b4eea0945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fe2b262614636" /><Relationship Type="http://schemas.openxmlformats.org/officeDocument/2006/relationships/notesSlide" Target="/ppt/notesSlides/notesSlide4.xml" Id="R21527ff40c9748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3b4de4d124223" /><Relationship Type="http://schemas.openxmlformats.org/officeDocument/2006/relationships/notesSlide" Target="/ppt/notesSlides/notesSlide5.xml" Id="R86f5af1f8e7941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7093c37cc4a77" /><Relationship Type="http://schemas.openxmlformats.org/officeDocument/2006/relationships/image" Target="/ppt/media/image3.png" Id="R10dca29538354e94" /><Relationship Type="http://schemas.openxmlformats.org/officeDocument/2006/relationships/notesSlide" Target="/ppt/notesSlides/notesSlide6.xml" Id="R58c20ac7945e42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a1b2d7b364bb1" /><Relationship Type="http://schemas.openxmlformats.org/officeDocument/2006/relationships/image" Target="/ppt/media/image4.png" Id="R8a07179b3fb442d4" /><Relationship Type="http://schemas.openxmlformats.org/officeDocument/2006/relationships/image" Target="/ppt/media/image5.png" Id="Rce3ab2b788a64f62" /><Relationship Type="http://schemas.openxmlformats.org/officeDocument/2006/relationships/notesSlide" Target="/ppt/notesSlides/notesSlide7.xml" Id="R653487cd4bcd44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3d2dfa4824ba2" /><Relationship Type="http://schemas.openxmlformats.org/officeDocument/2006/relationships/notesSlide" Target="/ppt/notesSlides/notesSlide8.xml" Id="R2b21e56db54f4a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62748EF-230C-4F39-92D8-220C24F8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SOCIALREADER · FOOD_V1</a:t>
            </a:r>
          </a:p>
        </p:txBody>
      </p:sp>
      <p:sp>
        <p:nvSpPr>
          <p:cNvPr id="2" name="deck-title">
            <a:extLst xmlns:a="http://schemas.openxmlformats.org/drawingml/2006/main">
              <a:ext uri="{FF2B5EF4-FFF2-40B4-BE49-F238E27FC236}">
                <a16:creationId xmlns:a16="http://schemas.microsoft.com/office/drawing/2014/main" id="{CF899A30-C703-476E-B6AF-AA61518F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504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AI 美食社媒</a:t>
            </a:r>
          </a:p>
          <a:p xmlns:a="http://schemas.openxmlformats.org/drawingml/2006/main">
            <a:pPr algn="l">
              <a:def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情报 Agent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6CCCCF35-2B67-4D26-81F8-2A7356B0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从通用采集到可追溯的领域 MVP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45A381B-F162-4434-BEDD-718A6B60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52850"/>
            <a:ext cx="436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9E12FB46-544E-483F-B54F-F04CDB16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问题定义 · 规则迭代 · 测试证据 · 产品演示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FA1DF0C-AE7E-4D51-9ED2-4F3891C7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Shay  |  海博拓天笔试汇报  |  2026.09</a:t>
            </a:r>
          </a:p>
        </p:txBody>
      </p:sp>
      <p:sp>
        <p:nvSpPr>
          <p:cNvPr id="7" name="hero-frame">
            <a:extLst xmlns:a="http://schemas.openxmlformats.org/drawingml/2006/main">
              <a:ext uri="{FF2B5EF4-FFF2-40B4-BE49-F238E27FC236}">
                <a16:creationId xmlns:a16="http://schemas.microsoft.com/office/drawing/2014/main" id="{ED21B654-D317-4CAC-90DD-CF80B2F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00050"/>
            <a:ext cx="5486400" cy="569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ceb5da0034802"/>
          <a:srcRect xmlns:a="http://schemas.openxmlformats.org/drawingml/2006/main" l="6533" t="0" r="65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552450"/>
            <a:ext cx="5181600" cy="5391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4745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80F6DA21-32DD-4EDC-BEAC-B81AB638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 · 产品做什么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F9E94-3F11-467F-AB90-9E261B65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先看结果：一个关键词，产出四类可检查结果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2BA167B-1B6C-4B3F-B12E-C4613521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6E76105C-D5B6-44A8-B51F-8D89F1B8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product-shot-frame">
            <a:extLst xmlns:a="http://schemas.openxmlformats.org/drawingml/2006/main">
              <a:ext uri="{FF2B5EF4-FFF2-40B4-BE49-F238E27FC236}">
                <a16:creationId xmlns:a16="http://schemas.microsoft.com/office/drawing/2014/main" id="{3EE5398C-6968-4D59-A098-EEE3DB53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858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3030b36c14607"/>
          <a:srcRect xmlns:a="http://schemas.openxmlformats.org/drawingml/2006/main" l="714" t="0" r="7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28800"/>
            <a:ext cx="6591300" cy="37338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E27D144-B3B1-4BE7-9995-06C3C21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907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3B703B72-B3AA-494B-BF7A-C281D275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关键词候选池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990EEE3F-855C-4277-96FE-456C6070D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52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保留同一次可见搜索结果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C32CB696-4136-433F-A8B6-19D1D663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F90162A-5C42-4FED-A996-1A2F2710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622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8666273C-7DEF-49BD-9176-18E662D7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食品知识卡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F96EC4AB-5BF0-471F-9608-5D42C6B0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菜品、食材、味道与口感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97448715-D724-4C5A-AB0F-CAC09572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916882-B05E-43C7-9629-8054AA54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5BED4D86-F5DC-439A-AF87-FE9BF43B7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活人感原句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E517C684-6195-43EA-B080-704F6CF3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95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正文、评论、ASR 逐句回溯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89F738B-26F2-4EE9-B2E6-68968ADC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14850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E366E56-79D2-46AF-B647-26A74FA6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053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D47DF17-4545-4AFA-8CEF-AEFFAD7E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人工审核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8DF8E0C-D83F-46D7-B4CB-DA2BAEEA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67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通过 / 驳回 / 待确认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0FA8CFE2-C0CF-40A1-8294-D06D20AC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340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页面先展示事实，再把判断依据单独展开。</a:t>
            </a:r>
          </a:p>
        </p:txBody>
      </p:sp>
    </p:spTree>
    <p:extLst>
      <p:ext uri="{BB962C8B-B14F-4D97-AF65-F5344CB8AC3E}">
        <p14:creationId xmlns:p14="http://schemas.microsoft.com/office/powerpoint/2010/main" val="1480433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">
            <a:extLst xmlns:a="http://schemas.openxmlformats.org/drawingml/2006/main">
              <a:ext uri="{FF2B5EF4-FFF2-40B4-BE49-F238E27FC236}">
                <a16:creationId xmlns:a16="http://schemas.microsoft.com/office/drawing/2014/main" id="{8B30D27F-C59E-484D-BB5A-6917C1DE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 · 优化步骤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5D0DB7-ACEA-4050-A36A-64A4222D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我不是只改一句话，而是把任务拆成四次判断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67A1449-AA7E-474A-A5B1-97ED7F9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A2EC20F1-373C-4C3C-B468-D411A0D7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2225213-E6D1-43B2-9504-920A3BDE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V0：输入一篇内容 → 直接输出“爆点、结构、选题灵感”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251C09F-7DC5-4DC6-A6C2-682ED1F6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V1：先取事实，再找原句，再审核，最后才生成推荐理由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F7C0295D-DAFE-4B69-B8FB-D39188FE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57550"/>
            <a:ext cx="971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8" name="node-0">
            <a:extLst xmlns:a="http://schemas.openxmlformats.org/drawingml/2006/main">
              <a:ext uri="{FF2B5EF4-FFF2-40B4-BE49-F238E27FC236}">
                <a16:creationId xmlns:a16="http://schemas.microsoft.com/office/drawing/2014/main" id="{BA4F1F02-6C9F-4C3E-AD26-9BEC6A0A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EE753A15-7BA3-4B8C-A96A-19C73A42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FCB8D9E-797F-454D-9E3C-0B2F63CD0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食品知识抽取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9B4B5A09-2422-45DD-ADE9-16C898C5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菜品、食材、味道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口感、做法、场景</a:t>
            </a:r>
          </a:p>
        </p:txBody>
      </p:sp>
      <p:sp>
        <p:nvSpPr>
          <p:cNvPr id="12" name="node-1">
            <a:extLst xmlns:a="http://schemas.openxmlformats.org/drawingml/2006/main">
              <a:ext uri="{FF2B5EF4-FFF2-40B4-BE49-F238E27FC236}">
                <a16:creationId xmlns:a16="http://schemas.microsoft.com/office/drawing/2014/main" id="{BBD66568-B0EB-4EE3-AA03-D288C5B5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0C10DB8-9445-4D38-ACF5-A8A4A3D9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FCAECB13-109F-47EC-B7FA-6116610B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表达候选发现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295327D-B4C2-4A3C-9FCE-91D80F0A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保留具体原句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过滤泛泛描述</a:t>
            </a:r>
          </a:p>
        </p:txBody>
      </p:sp>
      <p:sp>
        <p:nvSpPr>
          <p:cNvPr id="16" name="node-2">
            <a:extLst xmlns:a="http://schemas.openxmlformats.org/drawingml/2006/main">
              <a:ext uri="{FF2B5EF4-FFF2-40B4-BE49-F238E27FC236}">
                <a16:creationId xmlns:a16="http://schemas.microsoft.com/office/drawing/2014/main" id="{A98023E0-85B8-47ED-BFE2-54FBA4C2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287A8A"/>
          </a:solidFill>
          <a:ln xmlns:a="http://schemas.openxmlformats.org/drawingml/2006/main" w="0">
            <a:solidFill>
              <a:srgbClr val="287A8A"/>
            </a:solidFill>
            <a:prstDash val="solid"/>
          </a:ln>
        </p:spPr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AEE54C6-EEA2-4EED-852B-E4F097B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DB6FE8-3956-4B62-BA6A-FB70E95C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独立证据审核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FDEE93F-A4D5-463C-AE38-B59D5B48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检查对象、位置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风险与可回溯性</a:t>
            </a:r>
          </a:p>
        </p:txBody>
      </p:sp>
      <p:sp>
        <p:nvSpPr>
          <p:cNvPr id="20" name="node-3">
            <a:extLst xmlns:a="http://schemas.openxmlformats.org/drawingml/2006/main">
              <a:ext uri="{FF2B5EF4-FFF2-40B4-BE49-F238E27FC236}">
                <a16:creationId xmlns:a16="http://schemas.microsoft.com/office/drawing/2014/main" id="{37A842F1-1945-4F65-A2E9-1BED9229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105150"/>
            <a:ext cx="3238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BC86C0E-D176-4588-9030-017CA9CB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957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10476C4-C15D-4924-917F-F391F87D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386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推荐理由生成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C81362FA-72CD-4897-BCCA-BD9011752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495800"/>
            <a:ext cx="22383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仅使用通过证据</a:t>
            </a:r>
          </a:p>
          <a:p xmlns:a="http://schemas.openxmlformats.org/drawingml/2006/main">
            <a:pPr algn="l">
              <a:def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不把 ID 当结论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4FE515D-B00A-4C11-9CBA-6688D6D5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09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每一步都留下输入、输出和失败原因，错在哪里可以直接定位。</a:t>
            </a:r>
          </a:p>
        </p:txBody>
      </p:sp>
    </p:spTree>
    <p:extLst>
      <p:ext uri="{BB962C8B-B14F-4D97-AF65-F5344CB8AC3E}">
        <p14:creationId xmlns:p14="http://schemas.microsoft.com/office/powerpoint/2010/main" val="19024344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">
            <a:extLst xmlns:a="http://schemas.openxmlformats.org/drawingml/2006/main">
              <a:ext uri="{FF2B5EF4-FFF2-40B4-BE49-F238E27FC236}">
                <a16:creationId xmlns:a16="http://schemas.microsoft.com/office/drawing/2014/main" id="{F8717FB5-F72E-44FA-A787-170C6E68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03 · Prompt 原文对比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5D7848-ACB6-45FD-A4F9-00055FB2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Prompt 前后到底改了什么？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A5C5CD8-AE8E-48C2-BDB7-892E6736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9A6F5AE-A228-4AB0-9373-AF6209F2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prompt-v0">
            <a:extLst xmlns:a="http://schemas.openxmlformats.org/drawingml/2006/main">
              <a:ext uri="{FF2B5EF4-FFF2-40B4-BE49-F238E27FC236}">
                <a16:creationId xmlns:a16="http://schemas.microsoft.com/office/drawing/2014/main" id="{725CD1F1-8E34-4098-ADD4-8447C3F4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52197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1CBBE867-B0C1-41CC-AF69-96BAE47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V0 · 一段通用 Prompt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BFE7DCAD-A1E6-4F6E-9FEC-3C34F3E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6291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“你是社媒爆款内容分析师”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“## 爆点分析（为什么火）”</a:t>
            </a:r>
          </a:p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“## 可复用结构”</a:t>
            </a:r>
          </a:p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“## 选题灵感”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“有可复用的结构 / 方法论 / 数据 /</a:t>
            </a:r>
          </a:p>
          <a:p xmlns:a="http://schemas.openxmlformats.org/drawingml/2006/main">
            <a:pPr algn="l">
              <a:def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趋势 / 观点才值得萃取”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6F95BE6B-317C-4A1F-B895-9DD4E14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2445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65706A"/>
                </a:solidFill>
                <a:latin typeface="Consolas"/>
                <a:ea typeface="Consolas"/>
                <a:cs typeface="Consolas"/>
              </a:rPr>
              <a:t>输出：title / category / tags / content</a:t>
            </a:r>
          </a:p>
        </p:txBody>
      </p:sp>
      <p:sp>
        <p:nvSpPr>
          <p:cNvPr id="9" name="prompt-v1">
            <a:extLst xmlns:a="http://schemas.openxmlformats.org/drawingml/2006/main">
              <a:ext uri="{FF2B5EF4-FFF2-40B4-BE49-F238E27FC236}">
                <a16:creationId xmlns:a16="http://schemas.microsoft.com/office/drawing/2014/main" id="{C4902F86-742C-4196-BE58-F0CA968E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54864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92075FBB-1A91-4C86-81C5-C64009B6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47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V1 · 四段领域 Prompt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58424D4-AE89-4BB9-8D03-E8F9D1D7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48958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“只依据标题、正文、视频转写、评论”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“exact_quote 必须逐字复制”</a:t>
            </a:r>
          </a:p>
          <a:p xmlns:a="http://schemas.openxmlformats.org/drawingml/2006/main">
            <a:pPr algn="l">
              <a:def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“找不到证据时不得猜测”</a:t>
            </a:r>
          </a:p>
          <a:p xmlns:a="http://schemas.openxmlformats.org/drawingml/2006/main">
            <a:pPr algn="l">
              <a:def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“不能新增候选，只负责逐条核验”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“只使用已经人工审核通过的证据”</a:t>
            </a:r>
          </a:p>
          <a:p xmlns:a="http://schemas.openxmlformats.org/drawingml/2006/main">
            <a:pPr algn="l">
              <a:def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“证据不足返回 insufficient_evidence”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6A47E2F-FF64-4D31-B2C8-1F3B5F1C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244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4 个文件：抽取 → 表达 → 审核 → 理由</a:t>
            </a:r>
          </a:p>
        </p:txBody>
      </p:sp>
      <p:sp>
        <p:nvSpPr>
          <p:cNvPr id="13" name="prompt-diff">
            <a:extLst xmlns:a="http://schemas.openxmlformats.org/drawingml/2006/main">
              <a:ext uri="{FF2B5EF4-FFF2-40B4-BE49-F238E27FC236}">
                <a16:creationId xmlns:a16="http://schemas.microsoft.com/office/drawing/2014/main" id="{5C878784-4519-4178-BA38-84E96B22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53100"/>
            <a:ext cx="1108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DD5"/>
          </a:solidFill>
          <a:ln xmlns:a="http://schemas.openxmlformats.org/drawingml/2006/main" w="0">
            <a:solidFill>
              <a:srgbClr val="F3DDD5"/>
            </a:solidFill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B12408A-86FC-4255-8DFD-9C85D7DF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67400"/>
            <a:ext cx="1070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733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773322"/>
                </a:solidFill>
                <a:latin typeface="Microsoft YaHei"/>
                <a:ea typeface="Microsoft YaHei"/>
                <a:cs typeface="Microsoft YaHei"/>
              </a:rPr>
              <a:t>变化：泛化总结 → 原句证据｜一次生成 → 分步审核｜有话就写 → 证据不足不生成</a:t>
            </a:r>
          </a:p>
        </p:txBody>
      </p:sp>
    </p:spTree>
    <p:extLst>
      <p:ext uri="{BB962C8B-B14F-4D97-AF65-F5344CB8AC3E}">
        <p14:creationId xmlns:p14="http://schemas.microsoft.com/office/powerpoint/2010/main" val="12514280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kicker">
            <a:extLst xmlns:a="http://schemas.openxmlformats.org/drawingml/2006/main">
              <a:ext uri="{FF2B5EF4-FFF2-40B4-BE49-F238E27FC236}">
                <a16:creationId xmlns:a16="http://schemas.microsoft.com/office/drawing/2014/main" id="{C14A0545-564F-4CC1-91AB-9F14681EA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04 · 测试结果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C9B4C22-4108-412F-95A6-52BDFBF3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8 句逐条对比：V0 错 4 句，V1 全部符合预设边界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5E12D5DD-DAB2-4852-9ED3-B66DA431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FA6CA5C8-7539-46B1-9B1C-C1CFF49D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923D32BE-4A0D-4803-BA52-8BBF4190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D"/>
          </a:solidFill>
          <a:ln xmlns:a="http://schemas.openxmlformats.org/drawingml/2006/main" w="0">
            <a:solidFill>
              <a:srgbClr val="17211D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C4A7992E-12BC-436D-BD8B-943F16E4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测试原句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8806D622-32F5-4518-838C-804F567A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7621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71C88F75-80CF-4797-9155-58871947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V0 输出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5843501E-550D-466D-8A72-10BA6551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621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 输出</a:t>
            </a:r>
          </a:p>
        </p:txBody>
      </p:sp>
      <p:sp>
        <p:nvSpPr>
          <p:cNvPr id="10" name="row-0">
            <a:extLst xmlns:a="http://schemas.openxmlformats.org/drawingml/2006/main">
              <a:ext uri="{FF2B5EF4-FFF2-40B4-BE49-F238E27FC236}">
                <a16:creationId xmlns:a16="http://schemas.microsoft.com/office/drawing/2014/main" id="{23C53B70-4A86-435C-A073-6409C504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76450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2E2BCF73-58B0-4139-AFA5-0FE6673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虾究极 Q 弹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AC10F07C-2391-4C09-BB45-8787F857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1717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C24F5A2-4CA1-47AE-A850-D3731071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717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022D2298-811D-466D-BA2F-F3AEC932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71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15" name="row-1">
            <a:extLst xmlns:a="http://schemas.openxmlformats.org/drawingml/2006/main">
              <a:ext uri="{FF2B5EF4-FFF2-40B4-BE49-F238E27FC236}">
                <a16:creationId xmlns:a16="http://schemas.microsoft.com/office/drawing/2014/main" id="{8825DF6F-1C20-43BB-9868-AD923A91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05075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8B1D1C06-664F-42FA-B8CA-62DEE064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032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每一口都能嚼到虾肉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2504D74-C476-42F4-8D77-1884303E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03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E037898-8015-416E-86BC-338251B9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003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过滤 ✕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83AAEDF-1E41-43AF-9802-0271DF02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003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20" name="row-2">
            <a:extLst xmlns:a="http://schemas.openxmlformats.org/drawingml/2006/main">
              <a:ext uri="{FF2B5EF4-FFF2-40B4-BE49-F238E27FC236}">
                <a16:creationId xmlns:a16="http://schemas.microsoft.com/office/drawing/2014/main" id="{7C3965C3-0883-41AC-88B1-4AF35A47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C918694-B25E-49D9-81F8-D6FB6B5A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求地址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0A0E5ED-476B-4587-9B83-740CEF51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289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过滤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CD7E3EB-92FC-40E2-AAB8-F9D3D104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过滤 ✓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950D8D0F-6602-467B-855F-D9A2F15D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28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过滤 ✓</a:t>
            </a:r>
          </a:p>
        </p:txBody>
      </p:sp>
      <p:sp>
        <p:nvSpPr>
          <p:cNvPr id="25" name="row-3">
            <a:extLst xmlns:a="http://schemas.openxmlformats.org/drawingml/2006/main">
              <a:ext uri="{FF2B5EF4-FFF2-40B4-BE49-F238E27FC236}">
                <a16:creationId xmlns:a16="http://schemas.microsoft.com/office/drawing/2014/main" id="{6EF102E7-EF8B-471E-BDCC-DDAF5479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62325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9A614DC-119C-4D63-89BA-98D4CD56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好吃绝了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E8FF632B-4361-4765-A26A-A022B7CB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575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过滤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E63BDFD-FDC6-4215-AD76-23485112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575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保留 ✕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94736052-6BFC-4978-A943-61B2B5DB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4575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过滤 ✓</a:t>
            </a:r>
          </a:p>
        </p:txBody>
      </p:sp>
      <p:sp>
        <p:nvSpPr>
          <p:cNvPr id="30" name="row-4">
            <a:extLst xmlns:a="http://schemas.openxmlformats.org/drawingml/2006/main">
              <a:ext uri="{FF2B5EF4-FFF2-40B4-BE49-F238E27FC236}">
                <a16:creationId xmlns:a16="http://schemas.microsoft.com/office/drawing/2014/main" id="{8052C85E-DE11-42AA-8CCB-55B929EE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0B2961D-76AD-4590-B393-B3939744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拜见三文鱼波奇饭大王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9DCBDF7F-2F3D-4C61-85EC-A80D448A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862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F0B034C3-2DF8-4494-9689-F1239587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C187F5E6-97C4-4AD5-991D-421C063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862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35" name="row-5">
            <a:extLst xmlns:a="http://schemas.openxmlformats.org/drawingml/2006/main">
              <a:ext uri="{FF2B5EF4-FFF2-40B4-BE49-F238E27FC236}">
                <a16:creationId xmlns:a16="http://schemas.microsoft.com/office/drawing/2014/main" id="{76530C41-1099-444C-B961-B75CC856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9575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5271A76D-66BD-491E-BF08-0E87A88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看起来不错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2F3BEA5D-4C5D-4F2E-80B6-1EA766F8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148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过滤</a:t>
            </a:r>
          </a:p>
        </p:txBody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CD9ED03A-C88D-4F99-B5F0-6FD9D104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1482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保留 ✕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36161455-90DF-429D-AE57-1C55013C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1482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过滤 ✓</a:t>
            </a:r>
          </a:p>
        </p:txBody>
      </p:sp>
      <p:sp>
        <p:nvSpPr>
          <p:cNvPr id="40" name="row-6">
            <a:extLst xmlns:a="http://schemas.openxmlformats.org/drawingml/2006/main">
              <a:ext uri="{FF2B5EF4-FFF2-40B4-BE49-F238E27FC236}">
                <a16:creationId xmlns:a16="http://schemas.microsoft.com/office/drawing/2014/main" id="{877A54D6-D12E-4106-9984-69B4AB5C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E1"/>
          </a:solidFill>
          <a:ln xmlns:a="http://schemas.openxmlformats.org/drawingml/2006/main" w="0">
            <a:solidFill>
              <a:srgbClr val="ECE8E1"/>
            </a:solidFill>
            <a:prstDash val="solid"/>
          </a:ln>
        </p:spPr>
      </p:sp>
      <p:sp>
        <p:nvSpPr>
          <p:cNvPr id="41" name="text">
            <a:extLst xmlns:a="http://schemas.openxmlformats.org/drawingml/2006/main">
              <a:ext uri="{FF2B5EF4-FFF2-40B4-BE49-F238E27FC236}">
                <a16:creationId xmlns:a16="http://schemas.microsoft.com/office/drawing/2014/main" id="{73E07185-D3A1-4A49-9100-BAF06F89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这杯奶茶茶味清爽</a:t>
            </a:r>
          </a:p>
        </p:txBody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25DAB1A5-6179-4E84-BF55-1E335ADA1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4345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保留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EE11FA8-248F-4547-9484-5DA6DC42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4E690B3B-DFFF-4366-8A64-C49178CD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7434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保留 ✓</a:t>
            </a:r>
          </a:p>
        </p:txBody>
      </p:sp>
      <p:sp>
        <p:nvSpPr>
          <p:cNvPr id="45" name="row-7">
            <a:extLst xmlns:a="http://schemas.openxmlformats.org/drawingml/2006/main">
              <a:ext uri="{FF2B5EF4-FFF2-40B4-BE49-F238E27FC236}">
                <a16:creationId xmlns:a16="http://schemas.microsoft.com/office/drawing/2014/main" id="{E011FEC7-DE6B-4558-8DE6-DAB95820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76825"/>
            <a:ext cx="110871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90008715-04D2-475C-B467-00EF8FE7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72075"/>
            <a:ext cx="478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吃完瘦三斤</a:t>
            </a:r>
          </a:p>
        </p:txBody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143D68BB-9A10-4DD1-A363-480AC83C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17207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过滤</a:t>
            </a:r>
          </a:p>
        </p:txBody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5BD4BCFD-6F5F-4F6B-8F90-5211F33D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72075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保留 ✕</a:t>
            </a:r>
          </a:p>
        </p:txBody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CBF914E7-BE53-4B89-97FD-A3C50928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72075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过滤 ✓</a:t>
            </a:r>
          </a:p>
        </p:txBody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AA7D6FC4-ADB9-43F5-A34D-08DBA5FC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9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V0：4 / 8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4D89966A-9782-428C-8A14-E7C0B39C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95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V1：8 / 8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FCDB9079-B90B-478B-B49B-C2ED493A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71500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仅为固定规则测试｜真实人工金标准：0 / 24｜不能当生产准确率</a:t>
            </a:r>
          </a:p>
        </p:txBody>
      </p:sp>
    </p:spTree>
    <p:extLst>
      <p:ext uri="{BB962C8B-B14F-4D97-AF65-F5344CB8AC3E}">
        <p14:creationId xmlns:p14="http://schemas.microsoft.com/office/powerpoint/2010/main" val="15873712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">
            <a:extLst xmlns:a="http://schemas.openxmlformats.org/drawingml/2006/main">
              <a:ext uri="{FF2B5EF4-FFF2-40B4-BE49-F238E27FC236}">
                <a16:creationId xmlns:a16="http://schemas.microsoft.com/office/drawing/2014/main" id="{6D0A3D33-2E48-4D8E-9BA4-A36D9653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05 · 真实运行证据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9D3B7A-E264-4AD7-B549-31D06ABF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这次真实运行，页面上实际出现了什么？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3619546-BBBF-4324-856E-2B2BC70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0705B083-0016-4475-8ADB-1C71E0DB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un-shot-frame">
            <a:extLst xmlns:a="http://schemas.openxmlformats.org/drawingml/2006/main">
              <a:ext uri="{FF2B5EF4-FFF2-40B4-BE49-F238E27FC236}">
                <a16:creationId xmlns:a16="http://schemas.microsoft.com/office/drawing/2014/main" id="{594FBB9B-D005-466D-8663-BD9D29A0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7200900" cy="411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ca29538354e94"/>
          <a:srcRect xmlns:a="http://schemas.openxmlformats.org/drawingml/2006/main" l="0" t="308" r="0" b="3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6934200" cy="38481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F46DC3F5-1E3C-42CB-8394-D623D247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526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63C7CD3-5896-42C6-8363-A669600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907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候选池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634ECA4-C85B-4407-A201-50637E47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小红书当前可见搜索结果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B3F7B0DF-8F6B-448D-9726-1FE594B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908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8A0121F-0861-4AFA-9499-99524DD7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432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5 / 5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20023D-2BB5-4D7A-B1F6-4C8F11BB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详情成功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C04FA4A-3202-4ADA-9633-0C0AED83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小红书 3 条＋抖音 2 条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C5A5A5B5-D303-4368-A5D0-BD91FB66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814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E22AAA2D-3625-4F5B-A75F-4C2374DD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55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ECC3C32-6DD5-4B98-98BE-4AD16446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71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候选原句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D8F0DE27-4B66-45BE-B974-EC1B8970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2100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每条都有来源位置，仍待人工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439EFC81-F226-4FB7-AC8A-7D664728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7200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24FD0F7-074E-4DDD-ABB4-113BE9C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24400"/>
            <a:ext cx="142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3 / 3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C9B7651-F3D3-4546-924D-96200BD1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62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小红书链接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C20B6349-EDB3-47C4-B222-F7DF3E57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006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保留 xsec_token，页面可跳转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28A04EBF-F800-41E7-AF65-18C59DE7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页面数字＝当前运行快照，不随“预览关键词”伪变化。</a:t>
            </a:r>
          </a:p>
        </p:txBody>
      </p:sp>
    </p:spTree>
    <p:extLst>
      <p:ext uri="{BB962C8B-B14F-4D97-AF65-F5344CB8AC3E}">
        <p14:creationId xmlns:p14="http://schemas.microsoft.com/office/powerpoint/2010/main" val="16137855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kicker">
            <a:extLst xmlns:a="http://schemas.openxmlformats.org/drawingml/2006/main">
              <a:ext uri="{FF2B5EF4-FFF2-40B4-BE49-F238E27FC236}">
                <a16:creationId xmlns:a16="http://schemas.microsoft.com/office/drawing/2014/main" id="{3450253D-C932-433D-8338-0C235721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06 · 可追溯证据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673E6C-868D-4A5F-9181-73A48E62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每条结果都能继续追到原链接和原句位置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ED1222C-2AE2-491B-B1BA-BD35F2DF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0C58F53-BDAB-484F-B3CF-2CC6AD1A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cards-frame">
            <a:extLst xmlns:a="http://schemas.openxmlformats.org/drawingml/2006/main">
              <a:ext uri="{FF2B5EF4-FFF2-40B4-BE49-F238E27FC236}">
                <a16:creationId xmlns:a16="http://schemas.microsoft.com/office/drawing/2014/main" id="{2565402A-D35A-41D8-97AC-2E388B51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7179b3fb442d4"/>
          <a:srcRect xmlns:a="http://schemas.openxmlformats.org/drawingml/2006/main" l="774" t="0" r="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790700"/>
            <a:ext cx="5105400" cy="2895600"/>
          </a:xfrm>
          <a:prstGeom xmlns:a="http://schemas.openxmlformats.org/drawingml/2006/main" prst="rect">
            <a:avLst/>
          </a:prstGeom>
        </p:spPr>
      </p:pic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32710D12-9D93-4EA4-8319-4205C735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① 食品卡显示原链接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98472AB-CB61-422C-A0D6-2D371B32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可回到平台页面核对标题、作者和正文。</a:t>
            </a:r>
          </a:p>
        </p:txBody>
      </p:sp>
      <p:sp>
        <p:nvSpPr>
          <p:cNvPr id="9" name="evidence-frame">
            <a:extLst xmlns:a="http://schemas.openxmlformats.org/drawingml/2006/main">
              <a:ext uri="{FF2B5EF4-FFF2-40B4-BE49-F238E27FC236}">
                <a16:creationId xmlns:a16="http://schemas.microsoft.com/office/drawing/2014/main" id="{511E3A48-E449-4937-A8A2-2E9018EB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53340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2C7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3ab2b788a64f62"/>
          <a:srcRect xmlns:a="http://schemas.openxmlformats.org/drawingml/2006/main" l="774" t="0" r="7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790700"/>
            <a:ext cx="5105400" cy="289560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36FA6FA-4492-46FE-AF89-70B18A72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768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② 原句显示来源与位置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3B8ED2A-4AF0-4E13-A760-971C5CA6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244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正文、评论、ASR 都保留来源位置与待审状态。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54D13D8-2743-48DF-B164-66AF6E31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现场只需要点两处：食品卡的“原链接” → 表达库的“人工通过 / 驳回”。</a:t>
            </a:r>
          </a:p>
        </p:txBody>
      </p:sp>
    </p:spTree>
    <p:extLst>
      <p:ext uri="{BB962C8B-B14F-4D97-AF65-F5344CB8AC3E}">
        <p14:creationId xmlns:p14="http://schemas.microsoft.com/office/powerpoint/2010/main" val="15037795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kicker">
            <a:extLst xmlns:a="http://schemas.openxmlformats.org/drawingml/2006/main">
              <a:ext uri="{FF2B5EF4-FFF2-40B4-BE49-F238E27FC236}">
                <a16:creationId xmlns:a16="http://schemas.microsoft.com/office/drawing/2014/main" id="{BEE6652A-7486-4A2E-8C36-28C2656F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07 · 结论与下一步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76B114-2DE9-4612-AA02-163F7AC7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9600"/>
            <a:ext cx="11087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这个 MVP 的价值是可验证，而不是假装已经成熟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626568F-07A7-4AE6-A922-7DD4AA0F7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71600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59CC154A-DE63-4165-AC49-DC518FC34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389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570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ED59195-69DC-4BD4-BC28-5D681618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87A8A"/>
                </a:solidFill>
                <a:latin typeface="Microsoft YaHei"/>
                <a:ea typeface="Microsoft YaHei"/>
                <a:cs typeface="Microsoft YaHei"/>
              </a:rPr>
              <a:t>已经完成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2CF4472A-F6AC-47B0-803A-DDD594C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保留通用采集底座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增加 food_v1 独立模块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新品、热门、表达拆分规则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原句、位置和审核状态可追溯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✓ 失败与证据不足明确展示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B0D6A32E-0697-4140-B018-90915A3E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7165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2C7"/>
          </a:solidFill>
          <a:ln xmlns:a="http://schemas.openxmlformats.org/drawingml/2006/main" w="0">
            <a:solidFill>
              <a:srgbClr val="D9D2C7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805743D-E821-4309-97BA-FA1BF41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4D35"/>
                </a:solidFill>
                <a:latin typeface="Microsoft YaHei"/>
                <a:ea typeface="Microsoft YaHei"/>
                <a:cs typeface="Microsoft YaHei"/>
              </a:rPr>
              <a:t>仍待完成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B685BBB-A30F-4BA2-8D36-C487EA90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476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重构食品层级与多维属性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完成 24 篇人工金标准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双人复核并计算真实指标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处理 ASR 错字与令牌过期</a:t>
            </a:r>
          </a:p>
          <a:p xmlns:a="http://schemas.openxmlformats.org/drawingml/2006/main">
            <a:pPr algn="l">
              <a:def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7211D"/>
                </a:solidFill>
                <a:latin typeface="Microsoft YaHei"/>
                <a:ea typeface="Microsoft YaHei"/>
                <a:cs typeface="Microsoft YaHei"/>
              </a:rPr>
              <a:t>→ 扩大同平台候选池验证</a:t>
            </a:r>
          </a:p>
        </p:txBody>
      </p:sp>
      <p:sp>
        <p:nvSpPr>
          <p:cNvPr id="10" name="closing-statement">
            <a:extLst xmlns:a="http://schemas.openxmlformats.org/drawingml/2006/main">
              <a:ext uri="{FF2B5EF4-FFF2-40B4-BE49-F238E27FC236}">
                <a16:creationId xmlns:a16="http://schemas.microsoft.com/office/drawing/2014/main" id="{914DD548-2F49-4CAC-BCEF-A228F9C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2489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4D35"/>
          </a:solidFill>
          <a:ln xmlns:a="http://schemas.openxmlformats.org/drawingml/2006/main" w="0">
            <a:solidFill>
              <a:srgbClr val="B84D35"/>
            </a:solidFill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D27B9F-4DB9-4378-BAA0-C376F36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0070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先让每个结论站得住，再逐步追求更高的自动化。</a:t>
            </a:r>
          </a:p>
        </p:txBody>
      </p:sp>
    </p:spTree>
    <p:extLst>
      <p:ext uri="{BB962C8B-B14F-4D97-AF65-F5344CB8AC3E}">
        <p14:creationId xmlns:p14="http://schemas.microsoft.com/office/powerpoint/2010/main" val="1502839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2026-09-03T19:05:07.7690000Z</dcterms:created>
  <dcterms:modified xsi:type="dcterms:W3CDTF">2026-09-03T19:05:07.7690000Z</dcterms:modified>
</coreProperties>
</file>